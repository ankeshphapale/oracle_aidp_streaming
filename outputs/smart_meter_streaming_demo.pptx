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774AFF-1B0C-45E5-877B-40004FE296E6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0B1325"/>
                </a:solidFill>
              </a:defRPr>
            </a:pPr>
            <a:r>
              <a:rPr sz="4200" b="1">
                <a:solidFill>
                  <a:srgbClr val="0B1325"/>
                </a:solidFill>
              </a:rPr>
              <a:t>Smart Meter Streaming</a:t>
            </a:r>
          </a:p>
          <a:p>
            <a:pPr algn="l">
              <a:defRPr sz="4200" b="1">
                <a:solidFill>
                  <a:srgbClr val="0B1325"/>
                </a:solidFill>
              </a:defRPr>
            </a:pPr>
            <a:r>
              <a:rPr sz="4200" b="1">
                <a:solidFill>
                  <a:srgbClr val="0B1325"/>
                </a:solidFill>
              </a:rPr>
              <a:t>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57459-FA91-4083-8A5A-B1CF593FD91E}"/>
              </a:ext>
            </a:extLst>
          </p:cNvPr>
          <p:cNvSpPr>
            <a:spLocks noGrp="1"/>
          </p:cNvSpPr>
          <p:nvPr/>
        </p:nvSpPr>
        <p:spPr>
          <a:xfrm>
            <a:off x="571500" y="297180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E6A7D"/>
                </a:solidFill>
              </a:defRPr>
            </a:pPr>
            <a:r>
              <a:rPr sz="1875" b="0">
                <a:solidFill>
                  <a:srgbClr val="5E6A7D"/>
                </a:solidFill>
              </a:rPr>
              <a:t>From 15-minute readings to operational insight and next-interval demand forecasts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5F765A-527D-4B0A-90D4-03C1867F07B7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3714750" cy="3905250"/>
          </a:xfrm>
          <a:prstGeom prst="roundRect">
            <a:avLst>
              <a:gd name="adj" fmla="val 3077"/>
            </a:avLst>
          </a:prstGeom>
          <a:solidFill>
            <a:srgbClr val="0D285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C30DB-C61F-4F26-926C-7E219052CC2F}"/>
              </a:ext>
            </a:extLst>
          </p:cNvPr>
          <p:cNvSpPr>
            <a:spLocks noGrp="1"/>
          </p:cNvSpPr>
          <p:nvPr/>
        </p:nvSpPr>
        <p:spPr>
          <a:xfrm>
            <a:off x="7667625" y="16192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5DBF1-D34C-4863-8C5C-31E8B6323F20}"/>
              </a:ext>
            </a:extLst>
          </p:cNvPr>
          <p:cNvSpPr>
            <a:spLocks noGrp="1"/>
          </p:cNvSpPr>
          <p:nvPr/>
        </p:nvSpPr>
        <p:spPr>
          <a:xfrm>
            <a:off x="7620000" y="2362200"/>
            <a:ext cx="295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D8EBFF"/>
                </a:solidFill>
              </a:defRPr>
            </a:pPr>
            <a:r>
              <a:rPr sz="1575" b="0">
                <a:solidFill>
                  <a:srgbClr val="D8EBFF"/>
                </a:solidFill>
              </a:rPr>
              <a:t>smart meters in a live pipeline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1BA5C67-CF3C-49E4-99FA-7A59E53336EF}"/>
              </a:ext>
            </a:extLst>
          </p:cNvPr>
          <p:cNvSpPr>
            <a:spLocks noGrp="1"/>
          </p:cNvSpPr>
          <p:nvPr/>
        </p:nvSpPr>
        <p:spPr>
          <a:xfrm>
            <a:off x="7762875" y="3095625"/>
            <a:ext cx="2619375" cy="0"/>
          </a:xfrm>
          <a:prstGeom prst="line">
            <a:avLst/>
          </a:prstGeom>
          <a:ln w="28575">
            <a:solidFill>
              <a:srgbClr val="6DCBF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8F3AED-C1F4-400B-A313-7503A89D1947}"/>
              </a:ext>
            </a:extLst>
          </p:cNvPr>
          <p:cNvSpPr>
            <a:spLocks noGrp="1"/>
          </p:cNvSpPr>
          <p:nvPr/>
        </p:nvSpPr>
        <p:spPr>
          <a:xfrm>
            <a:off x="7667625" y="338137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Bronze → Silver → Gold → 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5A8CC-BEAB-45E2-9A9C-3D3A29199686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D8DFF"/>
                </a:solidFill>
              </a:defRPr>
            </a:pPr>
            <a:endParaRPr sz="1275" b="1" dirty="0">
              <a:solidFill>
                <a:srgbClr val="3D8D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469D61-1561-4D7C-9884-5DB172AC88C4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Oracle AIDP + OCI Streaming</a:t>
            </a:r>
          </a:p>
        </p:txBody>
      </p:sp>
    </p:spTree>
    <p:extLst>
      <p:ext uri="{BB962C8B-B14F-4D97-AF65-F5344CB8AC3E}">
        <p14:creationId xmlns:p14="http://schemas.microsoft.com/office/powerpoint/2010/main" val="61022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80C6B4D-6C0A-4601-998D-6DF9703003AB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1D4D8-68DE-46FA-B7EF-54733E0F8CE6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The operational challenge is not data collection—it is time to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A5DAD-EC2B-4BBF-8BBD-5493D648E4CA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A5128E7-8864-46CB-9FB7-FB2A4B13B89C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A17A0E-4B1F-4A2F-8B00-9B237A29CF0E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5C1BE-98FB-445F-B206-C89EFC50E71E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967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Interval data arrives continuously, but business teams see it too late.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3D470C-71EC-4854-9912-C7E40712C903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7AF5D-B293-4F0D-832E-3509B411F2CC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967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Raw telemetry cannot be trusted until it is validated, deduplicated and contextualized.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012890-F6A9-455A-9D0C-B3B7258F6DA7}"/>
              </a:ext>
            </a:extLst>
          </p:cNvPr>
          <p:cNvSpPr>
            <a:spLocks noGrp="1"/>
          </p:cNvSpPr>
          <p:nvPr/>
        </p:nvSpPr>
        <p:spPr>
          <a:xfrm>
            <a:off x="666750" y="298132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1DA1B-900C-4C1E-AB02-0C0070AA5EDF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967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Demand, anomaly and outage decisions need a forward-looking view—not yesterday’s report.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E93308-FBF4-4D94-B238-ADCDAAE2F8A0}"/>
              </a:ext>
            </a:extLst>
          </p:cNvPr>
          <p:cNvSpPr>
            <a:spLocks noGrp="1"/>
          </p:cNvSpPr>
          <p:nvPr/>
        </p:nvSpPr>
        <p:spPr>
          <a:xfrm>
            <a:off x="7239000" y="4429125"/>
            <a:ext cx="3905250" cy="1143000"/>
          </a:xfrm>
          <a:prstGeom prst="roundRect">
            <a:avLst>
              <a:gd name="adj" fmla="val 10000"/>
            </a:avLst>
          </a:prstGeom>
          <a:solidFill>
            <a:srgbClr val="E8F4FF"/>
          </a:solidFill>
          <a:ln w="9525">
            <a:solidFill>
              <a:srgbClr val="B9DAF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9E19E-C877-4D96-87B7-E2F183C77287}"/>
              </a:ext>
            </a:extLst>
          </p:cNvPr>
          <p:cNvSpPr>
            <a:spLocks noGrp="1"/>
          </p:cNvSpPr>
          <p:nvPr/>
        </p:nvSpPr>
        <p:spPr>
          <a:xfrm>
            <a:off x="7524750" y="4648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The opportunity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277289-5465-40D7-866B-D1C23774788D}"/>
              </a:ext>
            </a:extLst>
          </p:cNvPr>
          <p:cNvSpPr>
            <a:spLocks noGrp="1"/>
          </p:cNvSpPr>
          <p:nvPr/>
        </p:nvSpPr>
        <p:spPr>
          <a:xfrm>
            <a:off x="7524750" y="49530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 dirty="0">
                <a:solidFill>
                  <a:srgbClr val="0B1325"/>
                </a:solidFill>
              </a:rPr>
              <a:t>Turn meter events into a trusted operational decision product.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16B804-EBA3-4A17-B919-3D69EADE43DF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A streaming design makes each 15-minute interval actionable.</a:t>
            </a:r>
          </a:p>
        </p:txBody>
      </p:sp>
    </p:spTree>
    <p:extLst>
      <p:ext uri="{BB962C8B-B14F-4D97-AF65-F5344CB8AC3E}">
        <p14:creationId xmlns:p14="http://schemas.microsoft.com/office/powerpoint/2010/main" val="31478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A09125E-58FF-4D1C-B395-431090CE7BED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8928C9-0D91-4D1D-8E76-6CCFCC7633A2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One pipeline converts meter telemetry into governed operational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95FAC-C1F0-4974-82F5-449DF80F19F6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A14024E-6029-4068-BECA-EAC95CF14BD5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51B293-4CDB-4A70-B12B-F451AA3E5492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EEF2F7"/>
          </a:solidFill>
          <a:ln w="9525">
            <a:solidFill>
              <a:srgbClr val="C7D0D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4DFBC-C291-44BE-875B-EC9A542750DE}"/>
              </a:ext>
            </a:extLst>
          </p:cNvPr>
          <p:cNvSpPr>
            <a:spLocks noGrp="1"/>
          </p:cNvSpPr>
          <p:nvPr/>
        </p:nvSpPr>
        <p:spPr>
          <a:xfrm>
            <a:off x="657225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325"/>
                </a:solidFill>
              </a:defRPr>
            </a:pPr>
            <a:r>
              <a:rPr sz="1350" b="1">
                <a:solidFill>
                  <a:srgbClr val="0B1325"/>
                </a:solidFill>
              </a:rPr>
              <a:t>Meter fleet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A4BD8-5B60-4404-B2B3-A885A654B6DE}"/>
              </a:ext>
            </a:extLst>
          </p:cNvPr>
          <p:cNvSpPr>
            <a:spLocks noGrp="1"/>
          </p:cNvSpPr>
          <p:nvPr/>
        </p:nvSpPr>
        <p:spPr>
          <a:xfrm>
            <a:off x="638175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10,000 fixed meters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C2008DA-7618-4A68-B008-177542588C30}"/>
              </a:ext>
            </a:extLst>
          </p:cNvPr>
          <p:cNvSpPr>
            <a:spLocks noGrp="1"/>
          </p:cNvSpPr>
          <p:nvPr/>
        </p:nvSpPr>
        <p:spPr>
          <a:xfrm>
            <a:off x="2047875" y="3038475"/>
            <a:ext cx="304800" cy="0"/>
          </a:xfrm>
          <a:prstGeom prst="line">
            <a:avLst/>
          </a:prstGeom>
          <a:ln w="28575">
            <a:solidFill>
              <a:srgbClr val="3D8D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20DB93-A9F1-4E21-B799-4C3C588FDC3B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EEF2F7"/>
          </a:solidFill>
          <a:ln w="9525">
            <a:solidFill>
              <a:srgbClr val="C7D0D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5D128-6C03-46E5-9152-662B18D3B4DE}"/>
              </a:ext>
            </a:extLst>
          </p:cNvPr>
          <p:cNvSpPr>
            <a:spLocks noGrp="1"/>
          </p:cNvSpPr>
          <p:nvPr/>
        </p:nvSpPr>
        <p:spPr>
          <a:xfrm>
            <a:off x="2514600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325"/>
                </a:solidFill>
              </a:defRPr>
            </a:pPr>
            <a:r>
              <a:rPr sz="1350" b="1">
                <a:solidFill>
                  <a:srgbClr val="0B1325"/>
                </a:solidFill>
              </a:rPr>
              <a:t>OCI Streaming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779149-AE40-4AE9-B81A-51150A6B664F}"/>
              </a:ext>
            </a:extLst>
          </p:cNvPr>
          <p:cNvSpPr>
            <a:spLocks noGrp="1"/>
          </p:cNvSpPr>
          <p:nvPr/>
        </p:nvSpPr>
        <p:spPr>
          <a:xfrm>
            <a:off x="2495550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durable event buffer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68E3956-33CC-40D4-B7D9-808F7CD4387D}"/>
              </a:ext>
            </a:extLst>
          </p:cNvPr>
          <p:cNvSpPr>
            <a:spLocks noGrp="1"/>
          </p:cNvSpPr>
          <p:nvPr/>
        </p:nvSpPr>
        <p:spPr>
          <a:xfrm>
            <a:off x="3905250" y="3038475"/>
            <a:ext cx="304800" cy="0"/>
          </a:xfrm>
          <a:prstGeom prst="line">
            <a:avLst/>
          </a:prstGeom>
          <a:ln w="28575">
            <a:solidFill>
              <a:srgbClr val="3D8DFF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A8B5C6-1EFF-4EEE-8F66-8C141A337ADA}"/>
              </a:ext>
            </a:extLst>
          </p:cNvPr>
          <p:cNvSpPr>
            <a:spLocks noGrp="1"/>
          </p:cNvSpPr>
          <p:nvPr/>
        </p:nvSpPr>
        <p:spPr>
          <a:xfrm>
            <a:off x="4238625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EEF2F7"/>
          </a:solidFill>
          <a:ln w="9525">
            <a:solidFill>
              <a:srgbClr val="C7D0D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7A036-52F1-47B8-9E56-021A08347A29}"/>
              </a:ext>
            </a:extLst>
          </p:cNvPr>
          <p:cNvSpPr>
            <a:spLocks noGrp="1"/>
          </p:cNvSpPr>
          <p:nvPr/>
        </p:nvSpPr>
        <p:spPr>
          <a:xfrm>
            <a:off x="4371975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325"/>
                </a:solidFill>
              </a:defRPr>
            </a:pPr>
            <a:r>
              <a:rPr sz="1350" b="1">
                <a:solidFill>
                  <a:srgbClr val="0B1325"/>
                </a:solidFill>
              </a:rPr>
              <a:t>Bronze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CD2377-8307-4559-ABC2-262C5334D9DD}"/>
              </a:ext>
            </a:extLst>
          </p:cNvPr>
          <p:cNvSpPr>
            <a:spLocks noGrp="1"/>
          </p:cNvSpPr>
          <p:nvPr/>
        </p:nvSpPr>
        <p:spPr>
          <a:xfrm>
            <a:off x="4352925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immutable raw JSON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CC2CC8E-7D2B-4641-906B-BD1CA58E694B}"/>
              </a:ext>
            </a:extLst>
          </p:cNvPr>
          <p:cNvSpPr>
            <a:spLocks noGrp="1"/>
          </p:cNvSpPr>
          <p:nvPr/>
        </p:nvSpPr>
        <p:spPr>
          <a:xfrm>
            <a:off x="5762625" y="3038475"/>
            <a:ext cx="304800" cy="0"/>
          </a:xfrm>
          <a:prstGeom prst="line">
            <a:avLst/>
          </a:prstGeom>
          <a:ln w="28575">
            <a:solidFill>
              <a:srgbClr val="3D8DFF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F7BD8B-26BF-4419-AC24-CBD1CADE7B53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EEF2F7"/>
          </a:solidFill>
          <a:ln w="9525">
            <a:solidFill>
              <a:srgbClr val="C7D0D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D54871-A1ED-44C8-AA0A-AE1897109558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325"/>
                </a:solidFill>
              </a:defRPr>
            </a:pPr>
            <a:r>
              <a:rPr sz="1350" b="1">
                <a:solidFill>
                  <a:srgbClr val="0B1325"/>
                </a:solidFill>
              </a:rPr>
              <a:t>Silver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159F0-47CC-44BA-9D85-558FF4C53FB7}"/>
              </a:ext>
            </a:extLst>
          </p:cNvPr>
          <p:cNvSpPr>
            <a:spLocks noGrp="1"/>
          </p:cNvSpPr>
          <p:nvPr/>
        </p:nvSpPr>
        <p:spPr>
          <a:xfrm>
            <a:off x="6210300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validated interval records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FA0DAFE-6A30-4CEB-97AF-1222E21E8B3B}"/>
              </a:ext>
            </a:extLst>
          </p:cNvPr>
          <p:cNvSpPr>
            <a:spLocks noGrp="1"/>
          </p:cNvSpPr>
          <p:nvPr/>
        </p:nvSpPr>
        <p:spPr>
          <a:xfrm>
            <a:off x="7620000" y="3038475"/>
            <a:ext cx="304800" cy="0"/>
          </a:xfrm>
          <a:prstGeom prst="line">
            <a:avLst/>
          </a:prstGeom>
          <a:ln w="28575">
            <a:solidFill>
              <a:srgbClr val="3D8DFF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E50C6-ED1D-48C5-80BC-9A3A81473CFF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EEF2F7"/>
          </a:solidFill>
          <a:ln w="9525">
            <a:solidFill>
              <a:srgbClr val="C7D0D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49D9AE-66D8-412B-B9A9-8E9FAFCA7E4B}"/>
              </a:ext>
            </a:extLst>
          </p:cNvPr>
          <p:cNvSpPr>
            <a:spLocks noGrp="1"/>
          </p:cNvSpPr>
          <p:nvPr/>
        </p:nvSpPr>
        <p:spPr>
          <a:xfrm>
            <a:off x="8086725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325"/>
                </a:solidFill>
              </a:defRPr>
            </a:pPr>
            <a:r>
              <a:rPr sz="1350" b="1">
                <a:solidFill>
                  <a:srgbClr val="0B1325"/>
                </a:solidFill>
              </a:rPr>
              <a:t>Gold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2CC352-7CFD-4F81-8D29-AD76F17BA579}"/>
              </a:ext>
            </a:extLst>
          </p:cNvPr>
          <p:cNvSpPr>
            <a:spLocks noGrp="1"/>
          </p:cNvSpPr>
          <p:nvPr/>
        </p:nvSpPr>
        <p:spPr>
          <a:xfrm>
            <a:off x="8067675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usage + operations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4BF5B2E-78AE-4412-9341-0C702C55ECE5}"/>
              </a:ext>
            </a:extLst>
          </p:cNvPr>
          <p:cNvSpPr>
            <a:spLocks noGrp="1"/>
          </p:cNvSpPr>
          <p:nvPr/>
        </p:nvSpPr>
        <p:spPr>
          <a:xfrm>
            <a:off x="9477375" y="3038475"/>
            <a:ext cx="304800" cy="0"/>
          </a:xfrm>
          <a:prstGeom prst="line">
            <a:avLst/>
          </a:prstGeom>
          <a:ln w="28575">
            <a:solidFill>
              <a:srgbClr val="3D8DFF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A396BB-7FDC-4B6E-9E2E-CC1952FF92CA}"/>
              </a:ext>
            </a:extLst>
          </p:cNvPr>
          <p:cNvSpPr>
            <a:spLocks noGrp="1"/>
          </p:cNvSpPr>
          <p:nvPr/>
        </p:nvSpPr>
        <p:spPr>
          <a:xfrm>
            <a:off x="9810750" y="2476500"/>
            <a:ext cx="1524000" cy="1123950"/>
          </a:xfrm>
          <a:prstGeom prst="roundRect">
            <a:avLst>
              <a:gd name="adj" fmla="val 10169"/>
            </a:avLst>
          </a:prstGeom>
          <a:solidFill>
            <a:srgbClr val="0D2854"/>
          </a:solidFill>
          <a:ln w="9525">
            <a:solidFill>
              <a:srgbClr val="0D285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4C1CC6-E02E-4E6B-AB33-A1801367C114}"/>
              </a:ext>
            </a:extLst>
          </p:cNvPr>
          <p:cNvSpPr>
            <a:spLocks noGrp="1"/>
          </p:cNvSpPr>
          <p:nvPr/>
        </p:nvSpPr>
        <p:spPr>
          <a:xfrm>
            <a:off x="9944100" y="26479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3018C9-580A-4577-B61F-C2C9D18179BE}"/>
              </a:ext>
            </a:extLst>
          </p:cNvPr>
          <p:cNvSpPr>
            <a:spLocks noGrp="1"/>
          </p:cNvSpPr>
          <p:nvPr/>
        </p:nvSpPr>
        <p:spPr>
          <a:xfrm>
            <a:off x="9925050" y="30003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D8EBFF"/>
                </a:solidFill>
              </a:defRPr>
            </a:pPr>
            <a:r>
              <a:rPr sz="975" b="0">
                <a:solidFill>
                  <a:srgbClr val="D8EBFF"/>
                </a:solidFill>
              </a:rPr>
              <a:t>next 15-min forecast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78DB8E-BD37-4BD8-8002-894C44F5E134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325"/>
                </a:solidFill>
              </a:defRPr>
            </a:pPr>
            <a:r>
              <a:rPr sz="1800" b="1">
                <a:solidFill>
                  <a:srgbClr val="0B1325"/>
                </a:solidFill>
              </a:rPr>
              <a:t>Every stage is replayable, monitored and independently schedulable.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B5D71B-EE1A-4363-B021-2C8D126AED65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1EBFE0-8969-4FE8-A5AC-44B6AE5F43D7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8915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Producer: 10,000 detailed events every 15 minutes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A13968-910A-4D4A-8C36-190D923F7FB6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BE4940-A735-4F4A-AFA8-6F9B909193F1}"/>
              </a:ext>
            </a:extLst>
          </p:cNvPr>
          <p:cNvSpPr>
            <a:spLocks noGrp="1"/>
          </p:cNvSpPr>
          <p:nvPr/>
        </p:nvSpPr>
        <p:spPr>
          <a:xfrm>
            <a:off x="990600" y="5448300"/>
            <a:ext cx="8915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Consumer: batch ingest to Bronze with offset checkpoints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388551E-6725-41F7-9060-FE32ABC38DCD}"/>
              </a:ext>
            </a:extLst>
          </p:cNvPr>
          <p:cNvSpPr>
            <a:spLocks noGrp="1"/>
          </p:cNvSpPr>
          <p:nvPr/>
        </p:nvSpPr>
        <p:spPr>
          <a:xfrm>
            <a:off x="762000" y="6029325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7699B-80B8-4400-AC8C-82ACE8A105D7}"/>
              </a:ext>
            </a:extLst>
          </p:cNvPr>
          <p:cNvSpPr>
            <a:spLocks noGrp="1"/>
          </p:cNvSpPr>
          <p:nvPr/>
        </p:nvSpPr>
        <p:spPr>
          <a:xfrm>
            <a:off x="990600" y="5962650"/>
            <a:ext cx="8915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Transform + score: serving tables and future forecast interval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38B25D-8EC5-46E9-BF51-40BE7FD2EEF0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Bronze preserves evidence; Silver makes it trustworthy; Gold and ML make it useful.</a:t>
            </a:r>
          </a:p>
        </p:txBody>
      </p:sp>
    </p:spTree>
    <p:extLst>
      <p:ext uri="{BB962C8B-B14F-4D97-AF65-F5344CB8AC3E}">
        <p14:creationId xmlns:p14="http://schemas.microsoft.com/office/powerpoint/2010/main" val="202758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6558ED-240F-4AFD-8E58-072DAF200C27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C49246-4853-4CD8-AE95-4366A45F913F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The data product carries context—not just consumption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85F91-8A47-4066-A14F-9EB51DA18C87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378009E-31B6-4343-9A00-DCB604015710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073851-B2AA-4393-AD20-ECE14BED008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5191125" cy="142875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98C77-0668-4825-A8B7-5B857CBC3C7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Electrical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C577E-F505-431E-A731-6CEB390CBE3A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619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kWh, demand kW, voltage, current, power factor, frequency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B961C2-0D71-4729-BF53-849BE48DFE9F}"/>
              </a:ext>
            </a:extLst>
          </p:cNvPr>
          <p:cNvSpPr>
            <a:spLocks noGrp="1"/>
          </p:cNvSpPr>
          <p:nvPr/>
        </p:nvSpPr>
        <p:spPr>
          <a:xfrm>
            <a:off x="6124575" y="1809750"/>
            <a:ext cx="5191125" cy="142875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5A227-3BF4-4F78-B9B9-F24AD16B3692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Operational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5FB3F3-CD11-4E19-8942-339316EDDA78}"/>
              </a:ext>
            </a:extLst>
          </p:cNvPr>
          <p:cNvSpPr>
            <a:spLocks noGrp="1"/>
          </p:cNvSpPr>
          <p:nvPr/>
        </p:nvSpPr>
        <p:spPr>
          <a:xfrm>
            <a:off x="6334125" y="2381250"/>
            <a:ext cx="4619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quality code, firmware, meter status, outage minutes, tamper flag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4CD6B7-FB71-4429-AE59-2A141AE6B076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5191125" cy="142875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916C1-8DA1-4DD5-8B18-313ABD49FC1D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Network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B854EE-7841-4C98-8FEF-7BC1FDE2A5DD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4619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region, feeder, transformer, service point and tariff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46C660-26C7-42D6-9E04-A39BBA78CBF3}"/>
              </a:ext>
            </a:extLst>
          </p:cNvPr>
          <p:cNvSpPr>
            <a:spLocks noGrp="1"/>
          </p:cNvSpPr>
          <p:nvPr/>
        </p:nvSpPr>
        <p:spPr>
          <a:xfrm>
            <a:off x="6124575" y="3619500"/>
            <a:ext cx="5191125" cy="142875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56BFA0-7499-4C07-BFB4-4AEC0EFA7FF9}"/>
              </a:ext>
            </a:extLst>
          </p:cNvPr>
          <p:cNvSpPr>
            <a:spLocks noGrp="1"/>
          </p:cNvSpPr>
          <p:nvPr/>
        </p:nvSpPr>
        <p:spPr>
          <a:xfrm>
            <a:off x="6334125" y="3810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Customer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54FE8C-B2A8-4B6F-AA82-C78F8A41A4D0}"/>
              </a:ext>
            </a:extLst>
          </p:cNvPr>
          <p:cNvSpPr>
            <a:spLocks noGrp="1"/>
          </p:cNvSpPr>
          <p:nvPr/>
        </p:nvSpPr>
        <p:spPr>
          <a:xfrm>
            <a:off x="6334125" y="4191000"/>
            <a:ext cx="4619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residential, small business, industrial segment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BE2663-FD1E-453F-A173-9B9F33649AC1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325"/>
                </a:solidFill>
              </a:defRPr>
            </a:pPr>
            <a:r>
              <a:rPr sz="1650" b="1" dirty="0">
                <a:solidFill>
                  <a:srgbClr val="0B1325"/>
                </a:solidFill>
              </a:rPr>
              <a:t>This context enables operations, commercial and customer-service use cases from the same event stream.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C0273-0E30-4848-90C9-5E810A1D2D70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 dirty="0">
                <a:solidFill>
                  <a:srgbClr val="5E6A7D"/>
                </a:solidFill>
              </a:rPr>
              <a:t>Schema v2: granular meter, network and customer attributes.</a:t>
            </a:r>
          </a:p>
        </p:txBody>
      </p:sp>
    </p:spTree>
    <p:extLst>
      <p:ext uri="{BB962C8B-B14F-4D97-AF65-F5344CB8AC3E}">
        <p14:creationId xmlns:p14="http://schemas.microsoft.com/office/powerpoint/2010/main" val="7392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080916-AE8B-41D5-8C37-233C3D3F7DB5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91DBB7-BAA6-4590-8A0B-1081F2FEE5D0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The same platform serves multiple utility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0F2DC-0F8C-49BA-BDD9-E9EF321F150B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C473B86-7D97-4AA7-91C2-B58AFA75A7B4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B66C13-AA41-435D-A4CE-89BCD5AC75A2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858500" cy="609600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B8F9F1-A829-4F14-AC16-AF6DC4725933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Network operations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40DD85-0EC5-4D6A-9BD9-5534B4019911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Spot demand peaks by feeder or transformer; prioritize investigation.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2D5676-A599-4F06-8F0A-EAD36043C12D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10858500" cy="609600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8C79E7-41A3-47F9-AF3C-99B5687DF1D8}"/>
              </a:ext>
            </a:extLst>
          </p:cNvPr>
          <p:cNvSpPr>
            <a:spLocks noGrp="1"/>
          </p:cNvSpPr>
          <p:nvPr/>
        </p:nvSpPr>
        <p:spPr>
          <a:xfrm>
            <a:off x="876300" y="260032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Customer programs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02C56-495D-4088-A131-FF60B156EA42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Identify consumption patterns by segment; target tariffs and energy advice.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B93172-0E66-4B4E-BE35-4DEFF87D57E6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858500" cy="609600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C8677D-2F3E-4A46-8932-AE3A689967CB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Revenue assurance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08053F-B07E-4229-8956-784C4E05EE88}"/>
              </a:ext>
            </a:extLst>
          </p:cNvPr>
          <p:cNvSpPr>
            <a:spLocks noGrp="1"/>
          </p:cNvSpPr>
          <p:nvPr/>
        </p:nvSpPr>
        <p:spPr>
          <a:xfrm>
            <a:off x="3810000" y="3381375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Surface tamper signals, suspect readings and unusual interval behavior.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282643-1ECE-4463-AB6F-7E0882AF4DBE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858500" cy="609600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AD9C-7206-43A4-AEB5-07870E6CBC6F}"/>
              </a:ext>
            </a:extLst>
          </p:cNvPr>
          <p:cNvSpPr>
            <a:spLocks noGrp="1"/>
          </p:cNvSpPr>
          <p:nvPr/>
        </p:nvSpPr>
        <p:spPr>
          <a:xfrm>
            <a:off x="876300" y="421957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Reliability teams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8DBA6-0C78-4B99-965B-1019EBE7029D}"/>
              </a:ext>
            </a:extLst>
          </p:cNvPr>
          <p:cNvSpPr>
            <a:spLocks noGrp="1"/>
          </p:cNvSpPr>
          <p:nvPr/>
        </p:nvSpPr>
        <p:spPr>
          <a:xfrm>
            <a:off x="3810000" y="4191000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Combine outage indicators and meter status for faster triage.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3EF09C-4AEF-426D-BAE4-A96FCE8EEEC2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858500" cy="609600"/>
          </a:xfrm>
          <a:prstGeom prst="roundRect">
            <a:avLst>
              <a:gd name="adj" fmla="val 18750"/>
            </a:avLst>
          </a:prstGeom>
          <a:solidFill>
            <a:srgbClr val="E8F4FF"/>
          </a:solidFill>
          <a:ln w="9525">
            <a:solidFill>
              <a:srgbClr val="A9D5F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BA0609-CD68-4C62-B794-CEFDA00E7BC4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Planning &amp; forecasting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64DEE-24FE-442A-97B6-C6BD27403BC2}"/>
              </a:ext>
            </a:extLst>
          </p:cNvPr>
          <p:cNvSpPr>
            <a:spLocks noGrp="1"/>
          </p:cNvSpPr>
          <p:nvPr/>
        </p:nvSpPr>
        <p:spPr>
          <a:xfrm>
            <a:off x="3810000" y="5000625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325"/>
                </a:solidFill>
              </a:defRPr>
            </a:pPr>
            <a:r>
              <a:rPr sz="1350" b="0">
                <a:solidFill>
                  <a:srgbClr val="0B1325"/>
                </a:solidFill>
              </a:rPr>
              <a:t>Use next-interval forecasts to support dispatch and capacity planning.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343389-2C86-4210-8918-170C06883400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Start with one decision workflow; scale the common data product across teams.</a:t>
            </a:r>
          </a:p>
        </p:txBody>
      </p:sp>
    </p:spTree>
    <p:extLst>
      <p:ext uri="{BB962C8B-B14F-4D97-AF65-F5344CB8AC3E}">
        <p14:creationId xmlns:p14="http://schemas.microsoft.com/office/powerpoint/2010/main" val="39630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E04201E-44C4-410A-856D-CEA2CD0E8426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BFD171-516A-4B36-AAC7-B16968DC24BA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Benefits are delivered through faster visibility, better quality and repeatable automation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A60410-A375-4D1C-A643-198E4FD31EF0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2F7DCC2-5017-4CE7-B0C3-783D17E9019C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B37903-2103-4659-A00B-3D053502DB9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2476500" cy="1476375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C5FDC-041A-430F-95DB-8A106C04E015}"/>
              </a:ext>
            </a:extLst>
          </p:cNvPr>
          <p:cNvSpPr>
            <a:spLocks noGrp="1"/>
          </p:cNvSpPr>
          <p:nvPr/>
        </p:nvSpPr>
        <p:spPr>
          <a:xfrm>
            <a:off x="809625" y="21717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A7D"/>
                </a:solidFill>
              </a:defRPr>
            </a:pPr>
            <a:r>
              <a:rPr sz="975" b="1">
                <a:solidFill>
                  <a:srgbClr val="5E6A7D"/>
                </a:solidFill>
              </a:rPr>
              <a:t>DATA LATENCY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28B70-8E03-4A45-91BB-57EEA3CF2F49}"/>
              </a:ext>
            </a:extLst>
          </p:cNvPr>
          <p:cNvSpPr>
            <a:spLocks noGrp="1"/>
          </p:cNvSpPr>
          <p:nvPr/>
        </p:nvSpPr>
        <p:spPr>
          <a:xfrm>
            <a:off x="809625" y="25050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15-min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F4611F-CEF1-40AB-84FF-2D67CB85C9F6}"/>
              </a:ext>
            </a:extLst>
          </p:cNvPr>
          <p:cNvSpPr>
            <a:spLocks noGrp="1"/>
          </p:cNvSpPr>
          <p:nvPr/>
        </p:nvSpPr>
        <p:spPr>
          <a:xfrm>
            <a:off x="3333750" y="1952625"/>
            <a:ext cx="2476500" cy="1476375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28E38-1B70-40F3-899D-40D811AF119A}"/>
              </a:ext>
            </a:extLst>
          </p:cNvPr>
          <p:cNvSpPr>
            <a:spLocks noGrp="1"/>
          </p:cNvSpPr>
          <p:nvPr/>
        </p:nvSpPr>
        <p:spPr>
          <a:xfrm>
            <a:off x="3524250" y="21717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A7D"/>
                </a:solidFill>
              </a:defRPr>
            </a:pPr>
            <a:r>
              <a:rPr sz="975" b="1">
                <a:solidFill>
                  <a:srgbClr val="5E6A7D"/>
                </a:solidFill>
              </a:rPr>
              <a:t>FLEET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84C94-FA77-48DA-AD13-4BFC47CB06D0}"/>
              </a:ext>
            </a:extLst>
          </p:cNvPr>
          <p:cNvSpPr>
            <a:spLocks noGrp="1"/>
          </p:cNvSpPr>
          <p:nvPr/>
        </p:nvSpPr>
        <p:spPr>
          <a:xfrm>
            <a:off x="3524250" y="25050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7A5B"/>
                </a:solidFill>
              </a:defRPr>
            </a:pPr>
            <a:r>
              <a:rPr sz="2250" b="1">
                <a:solidFill>
                  <a:srgbClr val="167A5B"/>
                </a:solidFill>
              </a:rPr>
              <a:t>10,000 meters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DE7083-D606-4D77-86FA-FDD0682394B6}"/>
              </a:ext>
            </a:extLst>
          </p:cNvPr>
          <p:cNvSpPr>
            <a:spLocks noGrp="1"/>
          </p:cNvSpPr>
          <p:nvPr/>
        </p:nvSpPr>
        <p:spPr>
          <a:xfrm>
            <a:off x="6048375" y="1952625"/>
            <a:ext cx="2476500" cy="1476375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1B3B36-30CE-45E5-B3B6-8914FB9B83CE}"/>
              </a:ext>
            </a:extLst>
          </p:cNvPr>
          <p:cNvSpPr>
            <a:spLocks noGrp="1"/>
          </p:cNvSpPr>
          <p:nvPr/>
        </p:nvSpPr>
        <p:spPr>
          <a:xfrm>
            <a:off x="6238875" y="21717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A7D"/>
                </a:solidFill>
              </a:defRPr>
            </a:pPr>
            <a:r>
              <a:rPr sz="975" b="1">
                <a:solidFill>
                  <a:srgbClr val="5E6A7D"/>
                </a:solidFill>
              </a:rPr>
              <a:t>FORECAST HORIZON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3177A-BDCE-42A3-B7BB-61642D7D4535}"/>
              </a:ext>
            </a:extLst>
          </p:cNvPr>
          <p:cNvSpPr>
            <a:spLocks noGrp="1"/>
          </p:cNvSpPr>
          <p:nvPr/>
        </p:nvSpPr>
        <p:spPr>
          <a:xfrm>
            <a:off x="6238875" y="25050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6C4FD3"/>
                </a:solidFill>
              </a:defRPr>
            </a:pPr>
            <a:r>
              <a:rPr sz="2250" b="1">
                <a:solidFill>
                  <a:srgbClr val="6C4FD3"/>
                </a:solidFill>
              </a:rPr>
              <a:t>next 15 min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CA988D-D1F2-4CE1-AF21-837AC9D87EE4}"/>
              </a:ext>
            </a:extLst>
          </p:cNvPr>
          <p:cNvSpPr>
            <a:spLocks noGrp="1"/>
          </p:cNvSpPr>
          <p:nvPr/>
        </p:nvSpPr>
        <p:spPr>
          <a:xfrm>
            <a:off x="8763000" y="1952625"/>
            <a:ext cx="2476500" cy="1476375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D6DD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9ADE6-5522-403C-9A41-00203FDBF7C4}"/>
              </a:ext>
            </a:extLst>
          </p:cNvPr>
          <p:cNvSpPr>
            <a:spLocks noGrp="1"/>
          </p:cNvSpPr>
          <p:nvPr/>
        </p:nvSpPr>
        <p:spPr>
          <a:xfrm>
            <a:off x="8953500" y="21717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E6A7D"/>
                </a:solidFill>
              </a:defRPr>
            </a:pPr>
            <a:r>
              <a:rPr sz="975" b="1">
                <a:solidFill>
                  <a:srgbClr val="5E6A7D"/>
                </a:solidFill>
              </a:rPr>
              <a:t>DATA PATH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8B22E0-802D-4271-B3AE-7FD08D75645D}"/>
              </a:ext>
            </a:extLst>
          </p:cNvPr>
          <p:cNvSpPr>
            <a:spLocks noGrp="1"/>
          </p:cNvSpPr>
          <p:nvPr/>
        </p:nvSpPr>
        <p:spPr>
          <a:xfrm>
            <a:off x="8953500" y="25050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C76812"/>
                </a:solidFill>
              </a:defRPr>
            </a:pPr>
            <a:r>
              <a:rPr sz="2250" b="1">
                <a:solidFill>
                  <a:srgbClr val="C76812"/>
                </a:solidFill>
              </a:rPr>
              <a:t>raw → ML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762081-C788-4E73-8C17-6FA1A1331404}"/>
              </a:ext>
            </a:extLst>
          </p:cNvPr>
          <p:cNvSpPr>
            <a:spLocks noGrp="1"/>
          </p:cNvSpPr>
          <p:nvPr/>
        </p:nvSpPr>
        <p:spPr>
          <a:xfrm>
            <a:off x="762000" y="428625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6198A0-7460-4C42-9A00-D9049DBC5F52}"/>
              </a:ext>
            </a:extLst>
          </p:cNvPr>
          <p:cNvSpPr>
            <a:spLocks noGrp="1"/>
          </p:cNvSpPr>
          <p:nvPr/>
        </p:nvSpPr>
        <p:spPr>
          <a:xfrm>
            <a:off x="990600" y="4219575"/>
            <a:ext cx="958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Operations receive a live, governed view instead of reconciling disconnected extracts.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B4DFEE-9792-42D4-AD00-D04C822A9264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1C03CF-4830-4E10-9F8A-5A2942A84A6F}"/>
              </a:ext>
            </a:extLst>
          </p:cNvPr>
          <p:cNvSpPr>
            <a:spLocks noGrp="1"/>
          </p:cNvSpPr>
          <p:nvPr/>
        </p:nvSpPr>
        <p:spPr>
          <a:xfrm>
            <a:off x="990600" y="4733925"/>
            <a:ext cx="958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Data engineering gains replayability, raw evidence and checkpointed consumption.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A0C67B-F695-4A31-959D-C88D78C23C97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5D24F4-7F31-4135-846D-B79678F0E7F3}"/>
              </a:ext>
            </a:extLst>
          </p:cNvPr>
          <p:cNvSpPr>
            <a:spLocks noGrp="1"/>
          </p:cNvSpPr>
          <p:nvPr/>
        </p:nvSpPr>
        <p:spPr>
          <a:xfrm>
            <a:off x="990600" y="5248275"/>
            <a:ext cx="958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Business teams gain a segment-aware forecast and an auditable route back to source events.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358ACB-FB82-42A0-9D18-7CAFDE04B0A3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Benefits should be measured against agreed operational baselines during pilot.</a:t>
            </a:r>
          </a:p>
        </p:txBody>
      </p:sp>
    </p:spTree>
    <p:extLst>
      <p:ext uri="{BB962C8B-B14F-4D97-AF65-F5344CB8AC3E}">
        <p14:creationId xmlns:p14="http://schemas.microsoft.com/office/powerpoint/2010/main" val="89642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472E81B-9E47-4307-ADE7-43CF303DAE9D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BFED2-31EE-4D78-9C56-3072AB2C6A39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>
                <a:solidFill>
                  <a:srgbClr val="0B1325"/>
                </a:solidFill>
              </a:rPr>
              <a:t>The demo proves the end-to-end journey—not isolated components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7D9E5-1520-4A1F-8FBE-3EBFAF13BBD1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5FFCA3F-71A3-4016-943E-4B2C68123675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A426F2-9D2A-45CD-BD80-C072D939B887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46FE74-14A1-4C17-8B49-EBD9CC563241}"/>
              </a:ext>
            </a:extLst>
          </p:cNvPr>
          <p:cNvSpPr>
            <a:spLocks noGrp="1"/>
          </p:cNvSpPr>
          <p:nvPr/>
        </p:nvSpPr>
        <p:spPr>
          <a:xfrm>
            <a:off x="666750" y="22002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BBC3F-03D1-4D79-A4B7-F1719C78FC8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>
                <a:solidFill>
                  <a:srgbClr val="0B1325"/>
                </a:solidFill>
              </a:rPr>
              <a:t>Publish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80BA5-E83E-4554-8952-DF2A42FF99F4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176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10,000 meter events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B53DE98-946D-4AE8-8D9E-75BA9624C650}"/>
              </a:ext>
            </a:extLst>
          </p:cNvPr>
          <p:cNvSpPr>
            <a:spLocks noGrp="1"/>
          </p:cNvSpPr>
          <p:nvPr/>
        </p:nvSpPr>
        <p:spPr>
          <a:xfrm>
            <a:off x="1200150" y="2352675"/>
            <a:ext cx="1514475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55ECB2-4DD9-4813-A43C-6FB196A70CAE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EE04D-8907-4786-A127-8DEF6CC9839F}"/>
              </a:ext>
            </a:extLst>
          </p:cNvPr>
          <p:cNvSpPr>
            <a:spLocks noGrp="1"/>
          </p:cNvSpPr>
          <p:nvPr/>
        </p:nvSpPr>
        <p:spPr>
          <a:xfrm>
            <a:off x="2857500" y="22002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3DDBB2-AFF9-4C8D-98F9-45E309C3047F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>
                <a:solidFill>
                  <a:srgbClr val="0B1325"/>
                </a:solidFill>
              </a:rPr>
              <a:t>Ingest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C23AA-738E-4EF7-B4BF-CA6603BA7BCD}"/>
              </a:ext>
            </a:extLst>
          </p:cNvPr>
          <p:cNvSpPr>
            <a:spLocks noGrp="1"/>
          </p:cNvSpPr>
          <p:nvPr/>
        </p:nvSpPr>
        <p:spPr>
          <a:xfrm>
            <a:off x="2857500" y="3200400"/>
            <a:ext cx="176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Bronze raw events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C8BA6B4-341B-44D6-A8D2-5E0A3F14058B}"/>
              </a:ext>
            </a:extLst>
          </p:cNvPr>
          <p:cNvSpPr>
            <a:spLocks noGrp="1"/>
          </p:cNvSpPr>
          <p:nvPr/>
        </p:nvSpPr>
        <p:spPr>
          <a:xfrm>
            <a:off x="3390900" y="2352675"/>
            <a:ext cx="1514475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4F1736-F15F-44F4-83CB-D966EF5C6F86}"/>
              </a:ext>
            </a:extLst>
          </p:cNvPr>
          <p:cNvSpPr>
            <a:spLocks noGrp="1"/>
          </p:cNvSpPr>
          <p:nvPr/>
        </p:nvSpPr>
        <p:spPr>
          <a:xfrm>
            <a:off x="5048250" y="20955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830D6-A06C-450C-B89F-2231A17CCB83}"/>
              </a:ext>
            </a:extLst>
          </p:cNvPr>
          <p:cNvSpPr>
            <a:spLocks noGrp="1"/>
          </p:cNvSpPr>
          <p:nvPr/>
        </p:nvSpPr>
        <p:spPr>
          <a:xfrm>
            <a:off x="5048250" y="22002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44D5F-A217-4DAF-99C6-5B116BDDB707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>
                <a:solidFill>
                  <a:srgbClr val="0B1325"/>
                </a:solidFill>
              </a:rPr>
              <a:t>Refine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C21CE-87BC-4AEF-999F-8E99E849B0E6}"/>
              </a:ext>
            </a:extLst>
          </p:cNvPr>
          <p:cNvSpPr>
            <a:spLocks noGrp="1"/>
          </p:cNvSpPr>
          <p:nvPr/>
        </p:nvSpPr>
        <p:spPr>
          <a:xfrm>
            <a:off x="5048250" y="3200400"/>
            <a:ext cx="176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Silver + Gold tables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87BD047-8732-4628-B736-9FE204B1A7B0}"/>
              </a:ext>
            </a:extLst>
          </p:cNvPr>
          <p:cNvSpPr>
            <a:spLocks noGrp="1"/>
          </p:cNvSpPr>
          <p:nvPr/>
        </p:nvSpPr>
        <p:spPr>
          <a:xfrm>
            <a:off x="5581650" y="2352675"/>
            <a:ext cx="1514475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8B2F89-F687-4846-955F-FA20A424F409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048921-D9ED-4D77-8235-80ACFFD4A977}"/>
              </a:ext>
            </a:extLst>
          </p:cNvPr>
          <p:cNvSpPr>
            <a:spLocks noGrp="1"/>
          </p:cNvSpPr>
          <p:nvPr/>
        </p:nvSpPr>
        <p:spPr>
          <a:xfrm>
            <a:off x="7239000" y="22002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0687BA-A069-4A00-B0F5-5E9F283450D0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>
                <a:solidFill>
                  <a:srgbClr val="0B1325"/>
                </a:solidFill>
              </a:rPr>
              <a:t>Predict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8EAD6D-F85D-4E76-AD45-EE565D54AB0C}"/>
              </a:ext>
            </a:extLst>
          </p:cNvPr>
          <p:cNvSpPr>
            <a:spLocks noGrp="1"/>
          </p:cNvSpPr>
          <p:nvPr/>
        </p:nvSpPr>
        <p:spPr>
          <a:xfrm>
            <a:off x="7239000" y="3200400"/>
            <a:ext cx="176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10,000 future forecasts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8211296-D989-43E0-BBB8-613DC52AC5B9}"/>
              </a:ext>
            </a:extLst>
          </p:cNvPr>
          <p:cNvSpPr>
            <a:spLocks noGrp="1"/>
          </p:cNvSpPr>
          <p:nvPr/>
        </p:nvSpPr>
        <p:spPr>
          <a:xfrm>
            <a:off x="7772400" y="2352675"/>
            <a:ext cx="1514475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DA21DD-8C49-4C7C-AE60-7A40EF5D5B9F}"/>
              </a:ext>
            </a:extLst>
          </p:cNvPr>
          <p:cNvSpPr>
            <a:spLocks noGrp="1"/>
          </p:cNvSpPr>
          <p:nvPr/>
        </p:nvSpPr>
        <p:spPr>
          <a:xfrm>
            <a:off x="9429750" y="2095500"/>
            <a:ext cx="514350" cy="514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B70127-03D4-4B33-BA47-F187FAF8C9B1}"/>
              </a:ext>
            </a:extLst>
          </p:cNvPr>
          <p:cNvSpPr>
            <a:spLocks noGrp="1"/>
          </p:cNvSpPr>
          <p:nvPr/>
        </p:nvSpPr>
        <p:spPr>
          <a:xfrm>
            <a:off x="9429750" y="220027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D5AE6-6F5B-4BDB-B90F-73A7E064345A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B1325"/>
                </a:solidFill>
              </a:defRPr>
            </a:pPr>
            <a:r>
              <a:rPr sz="1575" b="1">
                <a:solidFill>
                  <a:srgbClr val="0B1325"/>
                </a:solidFill>
              </a:rPr>
              <a:t>Observe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3E3AA0-9CCC-48CE-8E18-F3E9FE50EE07}"/>
              </a:ext>
            </a:extLst>
          </p:cNvPr>
          <p:cNvSpPr>
            <a:spLocks noGrp="1"/>
          </p:cNvSpPr>
          <p:nvPr/>
        </p:nvSpPr>
        <p:spPr>
          <a:xfrm>
            <a:off x="9429750" y="3200400"/>
            <a:ext cx="176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live layer reports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F675DB-66E4-4C63-A585-40944EB612EB}"/>
              </a:ext>
            </a:extLst>
          </p:cNvPr>
          <p:cNvSpPr>
            <a:spLocks noGrp="1"/>
          </p:cNvSpPr>
          <p:nvPr/>
        </p:nvSpPr>
        <p:spPr>
          <a:xfrm>
            <a:off x="1143000" y="48101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endParaRPr sz="1575" b="1" dirty="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12C11C-52EF-46E5-8FFF-13ABB69171B8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Use the dashboard as the narrative bridge between technical flow and business outcome.</a:t>
            </a:r>
          </a:p>
        </p:txBody>
      </p:sp>
    </p:spTree>
    <p:extLst>
      <p:ext uri="{BB962C8B-B14F-4D97-AF65-F5344CB8AC3E}">
        <p14:creationId xmlns:p14="http://schemas.microsoft.com/office/powerpoint/2010/main" val="16269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AD0D0D-BA3A-45F1-B984-12AD0A46AB82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SMART METER STREAMING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DCBB6-1DFE-4453-AEAE-0F2F99F02AD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B1325"/>
                </a:solidFill>
              </a:defRPr>
            </a:pPr>
            <a:r>
              <a:rPr sz="2550" b="1" dirty="0">
                <a:solidFill>
                  <a:srgbClr val="0B1325"/>
                </a:solidFill>
              </a:rPr>
              <a:t>A focused pilot can turn this demo into a measurable operating capability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E1A6D-4F13-4681-87F1-6916ED0013CC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08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29465DA-3BD7-4D93-B007-EFD31A22CBEC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11125200" cy="0"/>
          </a:xfrm>
          <a:prstGeom prst="line">
            <a:avLst/>
          </a:prstGeom>
          <a:ln w="19050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A4609-F329-44B3-A39D-88328F0795C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Recommended next step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5C6E5-A94C-49A6-81D9-64E4003758ED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DA2E5C-060A-4A50-8AF9-1CDA37994B74}"/>
              </a:ext>
            </a:extLst>
          </p:cNvPr>
          <p:cNvSpPr>
            <a:spLocks noGrp="1"/>
          </p:cNvSpPr>
          <p:nvPr/>
        </p:nvSpPr>
        <p:spPr>
          <a:xfrm>
            <a:off x="895350" y="2409825"/>
            <a:ext cx="7867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Select a representative meter cohort and one operational decision to improve.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00C743-F3DF-4C12-A726-C35331258A72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399AD-6308-4466-9569-0643D3B6EE61}"/>
              </a:ext>
            </a:extLst>
          </p:cNvPr>
          <p:cNvSpPr>
            <a:spLocks noGrp="1"/>
          </p:cNvSpPr>
          <p:nvPr/>
        </p:nvSpPr>
        <p:spPr>
          <a:xfrm>
            <a:off x="895350" y="2924175"/>
            <a:ext cx="7867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Agree success measures: data freshness, completeness, forecast error and response time.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A21C44-A779-4FB6-807E-F381A0500BA9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104775" cy="10477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B048C-85ED-479C-872D-9E979557BCFF}"/>
              </a:ext>
            </a:extLst>
          </p:cNvPr>
          <p:cNvSpPr>
            <a:spLocks noGrp="1"/>
          </p:cNvSpPr>
          <p:nvPr/>
        </p:nvSpPr>
        <p:spPr>
          <a:xfrm>
            <a:off x="895350" y="3438525"/>
            <a:ext cx="7867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B1325"/>
                </a:solidFill>
              </a:defRPr>
            </a:pPr>
            <a:r>
              <a:rPr sz="1575" b="0">
                <a:solidFill>
                  <a:srgbClr val="0B1325"/>
                </a:solidFill>
              </a:rPr>
              <a:t>Connect the production stream, schedule the pipeline and establish operating ownership.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E7B8DE-776C-4E7F-A2A0-E818379DF447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2762250" cy="2476500"/>
          </a:xfrm>
          <a:prstGeom prst="roundRect">
            <a:avLst>
              <a:gd name="adj" fmla="val 4615"/>
            </a:avLst>
          </a:prstGeom>
          <a:solidFill>
            <a:srgbClr val="E8F4FF"/>
          </a:solidFill>
          <a:ln w="9525">
            <a:solidFill>
              <a:srgbClr val="A9D5F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FAA7D2-D4D6-4C4B-BC03-4AF4D1165611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3D8DFF"/>
                </a:solidFill>
              </a:defRPr>
            </a:pPr>
            <a:r>
              <a:rPr sz="1575" b="1" dirty="0">
                <a:solidFill>
                  <a:srgbClr val="3D8DFF"/>
                </a:solidFill>
              </a:rPr>
              <a:t>Decision 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00DF0-A3C2-4CBC-94A6-66A45CF89BA9}"/>
              </a:ext>
            </a:extLst>
          </p:cNvPr>
          <p:cNvSpPr>
            <a:spLocks noGrp="1"/>
          </p:cNvSpPr>
          <p:nvPr/>
        </p:nvSpPr>
        <p:spPr>
          <a:xfrm>
            <a:off x="8429625" y="2905125"/>
            <a:ext cx="219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B1325"/>
                </a:solidFill>
              </a:defRPr>
            </a:pPr>
            <a:r>
              <a:rPr sz="1875" b="1" dirty="0">
                <a:solidFill>
                  <a:srgbClr val="0B1325"/>
                </a:solidFill>
              </a:rPr>
              <a:t>Approve a targeted pilot to validate value with real meter data.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0C3F1-1979-4415-8DF1-4CC667CF46D1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325"/>
                </a:solidFill>
              </a:defRPr>
            </a:pPr>
            <a:r>
              <a:rPr sz="1950" b="1" dirty="0">
                <a:solidFill>
                  <a:srgbClr val="0B1325"/>
                </a:solidFill>
              </a:rPr>
              <a:t>Built to scale from demo to governed production.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CC082-F82F-47FA-83AA-652C63719927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A7D"/>
                </a:solidFill>
              </a:defRPr>
            </a:pPr>
            <a:r>
              <a:rPr sz="825" b="0">
                <a:solidFill>
                  <a:srgbClr val="5E6A7D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91834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DocSecurity>0</DocSecurity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Phapale, Ankesh</cp:lastModifiedBy>
  <cp:revision>1</cp:revision>
  <dcterms:created xsi:type="dcterms:W3CDTF">2026-07-23T21:04:41Z</dcterms:created>
  <dcterms:modified xsi:type="dcterms:W3CDTF">2026-07-23T21:29:58Z</dcterms:modified>
</cp:coreProperties>
</file>